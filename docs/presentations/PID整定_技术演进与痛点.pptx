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PID 整定技术发展路线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从经验法则到本体驱动 · 八十年的技术演进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0881360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3904488"/>
            <a:ext cx="237744" cy="23774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3813048"/>
            <a:ext cx="420624" cy="420624"/>
          </a:xfrm>
          <a:prstGeom prst="ellipse">
            <a:avLst/>
          </a:prstGeom>
          <a:solidFill>
            <a:srgbClr val="F96167">
              <a:alpha val="25000"/>
            </a:srgbClr>
          </a:solidFill>
          <a:ln w="12700">
            <a:solidFill>
              <a:srgbClr val="F96167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3904488"/>
            <a:ext cx="0" cy="-109728"/>
          </a:xfrm>
          <a:prstGeom prst="line">
            <a:avLst/>
          </a:prstGeom>
          <a:noFill/>
          <a:ln w="9525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87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1942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2157984" cy="1783080"/>
          </a:xfrm>
          <a:prstGeom prst="roundRect">
            <a:avLst>
              <a:gd name="adj" fmla="val 4103"/>
            </a:avLst>
          </a:prstGeom>
          <a:solidFill>
            <a:srgbClr val="0F1A47"/>
          </a:solidFill>
          <a:ln w="6350">
            <a:solidFill>
              <a:srgbClr val="CADCF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176272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2130552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Ziegler-Nichols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4672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闭环临界比例度法、开环阶跃响应法。完全靠工程师手算 + 现场试凑。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781044" y="3904488"/>
            <a:ext cx="237744" cy="23774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89604" y="3813048"/>
            <a:ext cx="420624" cy="420624"/>
          </a:xfrm>
          <a:prstGeom prst="ellipse">
            <a:avLst/>
          </a:prstGeom>
          <a:solidFill>
            <a:srgbClr val="F96167">
              <a:alpha val="25000"/>
            </a:srgbClr>
          </a:solidFill>
          <a:ln w="12700">
            <a:solidFill>
              <a:srgbClr val="F96167">
                <a:alpha val="2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99916" y="3904488"/>
            <a:ext cx="0" cy="-109728"/>
          </a:xfrm>
          <a:prstGeom prst="line">
            <a:avLst/>
          </a:prstGeom>
          <a:noFill/>
          <a:ln w="9525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20924" y="4187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1980s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820924" y="44805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模型法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820924" y="2011680"/>
            <a:ext cx="2157984" cy="1783080"/>
          </a:xfrm>
          <a:prstGeom prst="roundRect">
            <a:avLst>
              <a:gd name="adj" fmla="val 4103"/>
            </a:avLst>
          </a:prstGeom>
          <a:solidFill>
            <a:srgbClr val="0F1A47"/>
          </a:solidFill>
          <a:ln w="6350">
            <a:solidFill>
              <a:srgbClr val="CADCF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516" y="2176272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15284" y="2130552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IMC / Lambda / CHR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2985516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FOPDT/SOPDT 过程模型 + 解析公式。计算机辅助整定软件出现。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961888" y="3904488"/>
            <a:ext cx="237744" cy="23774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870448" y="3813048"/>
            <a:ext cx="420624" cy="420624"/>
          </a:xfrm>
          <a:prstGeom prst="ellipse">
            <a:avLst/>
          </a:prstGeom>
          <a:solidFill>
            <a:srgbClr val="F96167">
              <a:alpha val="25000"/>
            </a:srgbClr>
          </a:solidFill>
          <a:ln w="12700">
            <a:solidFill>
              <a:srgbClr val="F96167">
                <a:alpha val="25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80760" y="3904488"/>
            <a:ext cx="0" cy="-109728"/>
          </a:xfrm>
          <a:prstGeom prst="line">
            <a:avLst/>
          </a:prstGeom>
          <a:noFill/>
          <a:ln w="9525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01768" y="4187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1990s+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001768" y="44805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自整定 + 频域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01768" y="2011680"/>
            <a:ext cx="2157984" cy="1783080"/>
          </a:xfrm>
          <a:prstGeom prst="roundRect">
            <a:avLst>
              <a:gd name="adj" fmla="val 4103"/>
            </a:avLst>
          </a:prstGeom>
          <a:solidFill>
            <a:srgbClr val="0F1A47"/>
          </a:solidFill>
          <a:ln w="6350">
            <a:solidFill>
              <a:srgbClr val="CADCF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176272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596128" y="2130552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Relay Feedback / 自适应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5166360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在线辨识 + 频域分析。商业软件（ExperTune 等）让现场工程师可一键整定。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142732" y="3904488"/>
            <a:ext cx="237744" cy="237744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051292" y="3813048"/>
            <a:ext cx="420624" cy="420624"/>
          </a:xfrm>
          <a:prstGeom prst="ellipse">
            <a:avLst/>
          </a:prstGeom>
          <a:solidFill>
            <a:srgbClr val="F96167">
              <a:alpha val="25000"/>
            </a:srgbClr>
          </a:solidFill>
          <a:ln w="12700">
            <a:solidFill>
              <a:srgbClr val="F96167">
                <a:alpha val="2500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61604" y="3904488"/>
            <a:ext cx="0" cy="-109728"/>
          </a:xfrm>
          <a:prstGeom prst="line">
            <a:avLst/>
          </a:prstGeom>
          <a:noFill/>
          <a:ln w="9525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182612" y="4187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2010s+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7182612" y="44805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数据驱动 + AI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7182612" y="2011680"/>
            <a:ext cx="2157984" cy="1783080"/>
          </a:xfrm>
          <a:prstGeom prst="roundRect">
            <a:avLst>
              <a:gd name="adj" fmla="val 4103"/>
            </a:avLst>
          </a:prstGeom>
          <a:solidFill>
            <a:srgbClr val="0F1A47"/>
          </a:solidFill>
          <a:ln w="6350">
            <a:solidFill>
              <a:srgbClr val="CADCF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204" y="2176272"/>
            <a:ext cx="365760" cy="36576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776972" y="2130552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黑箱建模 + 性能基准</a:t>
            </a:r>
            <a:endParaRPr lang="en-US" sz="1350" dirty="0"/>
          </a:p>
        </p:txBody>
      </p:sp>
      <p:sp>
        <p:nvSpPr>
          <p:cNvPr id="41" name="Text 35"/>
          <p:cNvSpPr/>
          <p:nvPr/>
        </p:nvSpPr>
        <p:spPr>
          <a:xfrm>
            <a:off x="7347204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Subspace / ARMAX 系统辨识；Harris 指数、Cpk 评估闭环健康度。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10323576" y="3904488"/>
            <a:ext cx="237744" cy="237744"/>
          </a:xfrm>
          <a:prstGeom prst="ellipse">
            <a:avLst/>
          </a:prstGeom>
          <a:solidFill>
            <a:srgbClr val="F2B53C"/>
          </a:solidFill>
          <a:ln w="12700">
            <a:solidFill>
              <a:srgbClr val="F2B53C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0232136" y="3813048"/>
            <a:ext cx="420624" cy="420624"/>
          </a:xfrm>
          <a:prstGeom prst="ellipse">
            <a:avLst/>
          </a:prstGeom>
          <a:solidFill>
            <a:srgbClr val="F2B53C">
              <a:alpha val="25000"/>
            </a:srgbClr>
          </a:solidFill>
          <a:ln w="12700">
            <a:solidFill>
              <a:srgbClr val="F2B53C">
                <a:alpha val="25000"/>
              </a:srgbClr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10442448" y="3904488"/>
            <a:ext cx="0" cy="-109728"/>
          </a:xfrm>
          <a:prstGeom prst="line">
            <a:avLst/>
          </a:prstGeom>
          <a:noFill/>
          <a:ln w="9525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9363456" y="4187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5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9363456" y="44805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本体 + LLM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9363456" y="2011680"/>
            <a:ext cx="2157984" cy="1783080"/>
          </a:xfrm>
          <a:prstGeom prst="roundRect">
            <a:avLst>
              <a:gd name="adj" fmla="val 4103"/>
            </a:avLst>
          </a:prstGeom>
          <a:solidFill>
            <a:srgbClr val="0F1A47"/>
          </a:solidFill>
          <a:ln w="19050">
            <a:solidFill>
              <a:srgbClr val="F2B53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48" y="2176272"/>
            <a:ext cx="365760" cy="36576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9957816" y="2130552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5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知识增强智能整定</a:t>
            </a:r>
            <a:endParaRPr lang="en-US" sz="1350" dirty="0"/>
          </a:p>
        </p:txBody>
      </p:sp>
      <p:sp>
        <p:nvSpPr>
          <p:cNvPr id="50" name="Text 43"/>
          <p:cNvSpPr/>
          <p:nvPr/>
        </p:nvSpPr>
        <p:spPr>
          <a:xfrm>
            <a:off x="9528048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工艺本体（MCP）+ LLM 顾问选窗 / 评审 / 精修。可解释、可重放、可降级。</a:t>
            </a:r>
            <a:endParaRPr lang="en-US" sz="1050" dirty="0"/>
          </a:p>
        </p:txBody>
      </p:sp>
      <p:sp>
        <p:nvSpPr>
          <p:cNvPr id="51" name="Text 44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我们正处于 </a:t>
            </a:r>
            <a:pPr indent="0" marL="0">
              <a:buNone/>
            </a:pPr>
            <a:r>
              <a:rPr lang="en-US" sz="1300" b="1" i="1" dirty="0">
                <a:solidFill>
                  <a:srgbClr val="F2B53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本体 + LLM 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驱动整定的起步期：算法 80 年的成果是地基，知识与决策的结构化才是新跃迁。</a:t>
            </a:r>
            <a:endParaRPr lang="en-US" sz="1300" dirty="0"/>
          </a:p>
        </p:txBody>
      </p:sp>
      <p:sp>
        <p:nvSpPr>
          <p:cNvPr id="52" name="Text 4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9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PID 整定技术演进 · 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457200" cy="91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 PID 整定系统的核心痛点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算法越做越复杂，工程问题却没有被真正解决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F6F8FE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109728" cy="22631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800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DCE3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99796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84708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工艺与数据脱节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256032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整定算法只看 PV/MV 数值，不知道当前回路的物理意义、量程、USL/LSL、阀门特性、安全联锁。算出「漂亮的数学解」和现场不可用之间常常没有边界。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8160" y="155448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F6F8FE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28160" y="1554480"/>
            <a:ext cx="109728" cy="22631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2752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DCE3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Shape 13"/>
          <p:cNvSpPr/>
          <p:nvPr/>
        </p:nvSpPr>
        <p:spPr>
          <a:xfrm>
            <a:off x="4648200" y="1874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644" y="199796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34000" y="184708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参数静态、工况盲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648200" y="256032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一次整定一组参数。负荷切换、季节变化、催化剂老化后控制器逐渐「失效」，但没人重新调整。整定的成果在现场只有「出生那一刻」是匹配的。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07680" y="155448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F6F8FE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07680" y="1554480"/>
            <a:ext cx="109728" cy="22631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60704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DCE3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000" dirty="0"/>
          </a:p>
        </p:txBody>
      </p:sp>
      <p:sp>
        <p:nvSpPr>
          <p:cNvPr id="23" name="Shape 19"/>
          <p:cNvSpPr/>
          <p:nvPr/>
        </p:nvSpPr>
        <p:spPr>
          <a:xfrm>
            <a:off x="8427720" y="18745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164" y="1997964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13520" y="184708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选窗与决策黑箱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427720" y="256032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算法挑出「分数最高」的窗口和模型，但工程师无法判断它是否符合工艺直觉。「为什么是这一段？」回答只有一行 R²，缺乏可追溯证据。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48640" y="409194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F6F8FE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48640" y="4091940"/>
            <a:ext cx="109728" cy="22631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048000" y="41833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DCE3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4000" dirty="0"/>
          </a:p>
        </p:txBody>
      </p:sp>
      <p:sp>
        <p:nvSpPr>
          <p:cNvPr id="30" name="Shape 25"/>
          <p:cNvSpPr/>
          <p:nvPr/>
        </p:nvSpPr>
        <p:spPr>
          <a:xfrm>
            <a:off x="868680" y="44119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4535424"/>
            <a:ext cx="301752" cy="30175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554480" y="438454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缺乏诊断前置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868680" y="509778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直接发起整定，不分辨阀门粘滞、控制器开环、测量噪声异常。在不该整定的回路上整定，结果是一组奇怪参数被工程师悄悄忽略。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328160" y="409194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F6F8FE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328160" y="4091940"/>
            <a:ext cx="109728" cy="22631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827520" y="41833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DCE3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4000" dirty="0"/>
          </a:p>
        </p:txBody>
      </p:sp>
      <p:sp>
        <p:nvSpPr>
          <p:cNvPr id="37" name="Shape 31"/>
          <p:cNvSpPr/>
          <p:nvPr/>
        </p:nvSpPr>
        <p:spPr>
          <a:xfrm>
            <a:off x="4648200" y="44119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644" y="4535424"/>
            <a:ext cx="301752" cy="30175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334000" y="438454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整定与运行脱节</a:t>
            </a:r>
            <a:endParaRPr lang="en-US" sz="1700" dirty="0"/>
          </a:p>
        </p:txBody>
      </p:sp>
      <p:sp>
        <p:nvSpPr>
          <p:cNvPr id="40" name="Text 33"/>
          <p:cNvSpPr/>
          <p:nvPr/>
        </p:nvSpPr>
        <p:spPr>
          <a:xfrm>
            <a:off x="4648200" y="509778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PID 参数下发到 DCS 后，没有谁持续盯着 Cpk / Harris 指数是否真的提升。「整定有没有用」通常要等故障再次发生才被发现。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8107680" y="409194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F6F8FE"/>
          </a:solidFill>
          <a:ln w="9525">
            <a:solidFill>
              <a:srgbClr val="DCE3F2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107680" y="4091940"/>
            <a:ext cx="109728" cy="22631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10607040" y="41833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i="1" dirty="0">
                <a:solidFill>
                  <a:srgbClr val="DCE3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4000" dirty="0"/>
          </a:p>
        </p:txBody>
      </p:sp>
      <p:sp>
        <p:nvSpPr>
          <p:cNvPr id="44" name="Shape 37"/>
          <p:cNvSpPr/>
          <p:nvPr/>
        </p:nvSpPr>
        <p:spPr>
          <a:xfrm>
            <a:off x="8427720" y="44119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164" y="4535424"/>
            <a:ext cx="301752" cy="30175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113520" y="438454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高度依赖个人经验</a:t>
            </a:r>
            <a:endParaRPr lang="en-US" sz="1700" dirty="0"/>
          </a:p>
        </p:txBody>
      </p:sp>
      <p:sp>
        <p:nvSpPr>
          <p:cNvPr id="47" name="Text 39"/>
          <p:cNvSpPr/>
          <p:nvPr/>
        </p:nvSpPr>
        <p:spPr>
          <a:xfrm>
            <a:off x="8427720" y="509778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整定质量取决于工艺老师傅在不在场。换一个工程师就要从头试凑；班组的整定经验既不可复用，也无法在系统里沉淀。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548640" y="64922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本质：</a:t>
            </a:r>
            <a:pPr algn="l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整定 ≠ 求解 PID 三个参数。整定是 </a:t>
            </a:r>
            <a:pPr algn="l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工艺知识 + 数据画像 + 决策证据 </a:t>
            </a:r>
            <a:pPr algn="l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持续闭环的系统工程。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4572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943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我们的解决方案 · 本体驱动 + LLM 智能整定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把工艺知识、数据画像、决策证据搬进同一条流水线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E0F7F4"/>
          </a:solidFill>
          <a:ln w="9525">
            <a:solidFill>
              <a:srgbClr val="B7E5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109728" cy="2263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9360" y="17190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 01</a:t>
            </a:r>
            <a:pPr algn="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99796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84708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本体 / MCP 注入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256032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整定开始即从本体拉取 USL/LSL、量程、过程方向、阀门特性。算法和 LLM 都看到工艺，不再「盲算」。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8160" y="155448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E0F7F4"/>
          </a:solidFill>
          <a:ln w="9525">
            <a:solidFill>
              <a:srgbClr val="B7E5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28160" y="1554480"/>
            <a:ext cx="109728" cy="2263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8880" y="17190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 02</a:t>
            </a:r>
            <a:pPr algn="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→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4820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644" y="199796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34000" y="184708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工况识别 + 多工况策略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648200" y="256032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诊断阶段先识别当前工况（高/低负荷、过渡），按工况切换阈值与时间常数先验，避免单一参数走天下。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07680" y="155448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E0F7F4"/>
          </a:solidFill>
          <a:ln w="9525">
            <a:solidFill>
              <a:srgbClr val="B7E5D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07680" y="1554480"/>
            <a:ext cx="109728" cy="2263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058400" y="17190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 03</a:t>
            </a:r>
            <a:pPr algn="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→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427720" y="18745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164" y="1997964"/>
            <a:ext cx="301752" cy="30175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13520" y="184708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算法族 + LLM 评审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8427720" y="256032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每个候选窗口都有原始分、本体一致性分、策略分；LLM 逐窗给 verdict + 理由 + 本体证据，决策全程可追溯。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48640" y="409194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E0F7F4"/>
          </a:solidFill>
          <a:ln w="9525">
            <a:solidFill>
              <a:srgbClr val="B7E5D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48640" y="4091940"/>
            <a:ext cx="109728" cy="2263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499360" y="42565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 04</a:t>
            </a:r>
            <a:pPr algn="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→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68680" y="44119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4535424"/>
            <a:ext cx="301752" cy="30175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554480" y="438454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诊断先于整定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868680" y="509778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独立诊断流水线先跑开闭环判定、SNR、Cpk、Harris；只有「需要整定」的回路才进入辨识 + 整定主流程。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328160" y="409194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E0F7F4"/>
          </a:solidFill>
          <a:ln w="9525">
            <a:solidFill>
              <a:srgbClr val="B7E5DD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328160" y="4091940"/>
            <a:ext cx="109728" cy="2263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278880" y="42565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 05</a:t>
            </a:r>
            <a:pPr algn="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→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648200" y="44119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644" y="4535424"/>
            <a:ext cx="301752" cy="30175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334000" y="438454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整定后持续监控</a:t>
            </a:r>
            <a:endParaRPr lang="en-US" sz="1700" dirty="0"/>
          </a:p>
        </p:txBody>
      </p:sp>
      <p:sp>
        <p:nvSpPr>
          <p:cNvPr id="40" name="Text 33"/>
          <p:cNvSpPr/>
          <p:nvPr/>
        </p:nvSpPr>
        <p:spPr>
          <a:xfrm>
            <a:off x="4648200" y="509778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参数下发后监控页持续跟踪 Cpk / Harris / 过冲；性能下滑会自动回到诊断入口，形成「整定—运行—再整定」闭环。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8107680" y="4091940"/>
            <a:ext cx="3505200" cy="2263140"/>
          </a:xfrm>
          <a:prstGeom prst="roundRect">
            <a:avLst>
              <a:gd name="adj" fmla="val 3232"/>
            </a:avLst>
          </a:prstGeom>
          <a:solidFill>
            <a:srgbClr val="E0F7F4"/>
          </a:solidFill>
          <a:ln w="9525">
            <a:solidFill>
              <a:srgbClr val="B7E5DD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107680" y="4091940"/>
            <a:ext cx="109728" cy="2263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10058400" y="42565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痛点 06</a:t>
            </a:r>
            <a:pPr algn="r" indent="0" marL="0">
              <a:buNone/>
            </a:pPr>
            <a:r>
              <a:rPr lang="en-US" sz="1100" b="1" i="1" dirty="0">
                <a:solidFill>
                  <a:srgbClr val="0D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→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8427720" y="44119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1164" y="4535424"/>
            <a:ext cx="301752" cy="30175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113520" y="4384548"/>
            <a:ext cx="231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经验沉淀 + 会话可重放</a:t>
            </a:r>
            <a:endParaRPr lang="en-US" sz="1700" dirty="0"/>
          </a:p>
        </p:txBody>
      </p:sp>
      <p:sp>
        <p:nvSpPr>
          <p:cNvPr id="47" name="Text 39"/>
          <p:cNvSpPr/>
          <p:nvPr/>
        </p:nvSpPr>
        <p:spPr>
          <a:xfrm>
            <a:off x="8427720" y="5097780"/>
            <a:ext cx="295656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每次整定的本体证据、思维链、攻坚精修都进会话日志；专家知识沉到本体可复用，新工程师也能站在前人结论上。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548640" y="64922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0D94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底层逻辑：</a:t>
            </a:r>
            <a:pPr algn="l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从「算 PID 三个参数」到「</a:t>
            </a:r>
            <a:pPr algn="l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工艺知识 + 数据画像 + 决策证据持续闭环</a:t>
            </a:r>
            <a:pPr algn="l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」的整定系统。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PID 智能整定 · 技术演进与现状痛点</dc:title>
  <dc:subject>PptxGenJS Presentation</dc:subject>
  <dc:creator>PID V2</dc:creator>
  <cp:lastModifiedBy>PID V2</cp:lastModifiedBy>
  <cp:revision>1</cp:revision>
  <dcterms:created xsi:type="dcterms:W3CDTF">2026-05-09T03:53:25Z</dcterms:created>
  <dcterms:modified xsi:type="dcterms:W3CDTF">2026-05-09T03:53:25Z</dcterms:modified>
</cp:coreProperties>
</file>