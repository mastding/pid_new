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65836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300" b="1">
                <a:solidFill>
                  <a:srgbClr val="E6F2FF"/>
                </a:solidFill>
                <a:latin typeface="Microsoft YaHei"/>
              </a:rPr>
              <a:t>PID 智能整定如何结合本体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863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>
                <a:solidFill>
                  <a:srgbClr val="97B2CF"/>
                </a:solidFill>
                <a:latin typeface="Microsoft YaHei"/>
              </a:rPr>
              <a:t>从历史数据画像、MCP 本体检索，到窗口策略、LLM 评审与整定闭环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20240"/>
            <a:ext cx="1554480" cy="292608"/>
          </a:xfrm>
          <a:prstGeom prst="roundRect">
            <a:avLst/>
          </a:prstGeom>
          <a:solidFill>
            <a:srgbClr val="0D2D4E"/>
          </a:solidFill>
          <a:ln>
            <a:solidFill>
              <a:srgbClr val="3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984248"/>
            <a:ext cx="1335024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30D6DE"/>
                </a:solidFill>
                <a:latin typeface="Microsoft YaHei"/>
              </a:rPr>
              <a:t>当前项目实现说明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2926080" cy="1280160"/>
          </a:xfrm>
          <a:prstGeom prst="roundRect">
            <a:avLst/>
          </a:prstGeom>
          <a:solidFill>
            <a:srgbClr val="0F1E2E"/>
          </a:solidFill>
          <a:ln w="12700">
            <a:solidFill>
              <a:srgbClr val="2C47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97B2CF"/>
                </a:solidFill>
                <a:latin typeface="Microsoft YaHei"/>
              </a:rPr>
              <a:t>核心目标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64992"/>
            <a:ext cx="237744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F2FF"/>
                </a:solidFill>
                <a:latin typeface="Microsoft YaHei"/>
              </a:rPr>
              <a:t>让窗口候选不只看曲线，而能理解工艺语义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2743200"/>
            <a:ext cx="2926080" cy="1280160"/>
          </a:xfrm>
          <a:prstGeom prst="roundRect">
            <a:avLst/>
          </a:prstGeom>
          <a:solidFill>
            <a:srgbClr val="0F1E2E"/>
          </a:solidFill>
          <a:ln w="12700">
            <a:solidFill>
              <a:srgbClr val="2C47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2971800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97B2CF"/>
                </a:solidFill>
                <a:latin typeface="Microsoft YaHei"/>
              </a:rPr>
              <a:t>当前链路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3364992"/>
            <a:ext cx="237744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F2FF"/>
                </a:solidFill>
                <a:latin typeface="Microsoft YaHei"/>
              </a:rPr>
              <a:t>LoopFeatures + MCP 本体 + LLM 策略 + 算法族</a:t>
            </a:r>
          </a:p>
        </p:txBody>
      </p:sp>
      <p:pic>
        <p:nvPicPr>
          <p:cNvPr id="13" name="Picture 12" descr="ppt_window_candidate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939" y="1097280"/>
            <a:ext cx="7201881" cy="4480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86600" y="5779008"/>
            <a:ext cx="3474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97B2CF"/>
                </a:solidFill>
                <a:latin typeface="Microsoft YaHei"/>
              </a:rPr>
              <a:t>截图来自当前 /monitoring 工业风驾驶舱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863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300" b="1">
                <a:solidFill>
                  <a:srgbClr val="E6F2FF"/>
                </a:solidFill>
                <a:latin typeface="Microsoft YaHei"/>
              </a:rPr>
              <a:t>一条本体驱动的整定链路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97840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7B2CF"/>
                </a:solidFill>
                <a:latin typeface="Microsoft YaHei"/>
              </a:rPr>
              <a:t>前端负责可解释流程展示；后端负责数据画像、本体检索、策略生成、算法族运行与事件沉淀。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9144"/>
          </a:xfrm>
          <a:prstGeom prst="rect">
            <a:avLst/>
          </a:prstGeom>
          <a:solidFill>
            <a:srgbClr val="2C47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1691640" cy="914400"/>
          </a:xfrm>
          <a:prstGeom prst="roundRect">
            <a:avLst/>
          </a:prstGeom>
          <a:solidFill>
            <a:srgbClr val="142A40"/>
          </a:solidFill>
          <a:ln w="12700">
            <a:solidFill>
              <a:srgbClr val="2C47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737360"/>
            <a:ext cx="29260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4BF597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11887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1">
                <a:solidFill>
                  <a:srgbClr val="E6F2FF"/>
                </a:solidFill>
                <a:latin typeface="Microsoft YaHei"/>
              </a:rPr>
              <a:t>数据画像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66543"/>
            <a:ext cx="112471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0" b="0">
                <a:solidFill>
                  <a:srgbClr val="97B2CF"/>
                </a:solidFill>
                <a:latin typeface="Microsoft YaHei"/>
              </a:rPr>
              <a:t>LoopFeatures 计算原始特征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0592" y="1572768"/>
            <a:ext cx="1691640" cy="914400"/>
          </a:xfrm>
          <a:prstGeom prst="roundRect">
            <a:avLst/>
          </a:prstGeom>
          <a:solidFill>
            <a:srgbClr val="142A40"/>
          </a:solidFill>
          <a:ln w="12700">
            <a:solidFill>
              <a:srgbClr val="2C47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737360"/>
            <a:ext cx="29260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4BF597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1737360"/>
            <a:ext cx="11887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1">
                <a:solidFill>
                  <a:srgbClr val="E6F2FF"/>
                </a:solidFill>
                <a:latin typeface="Microsoft YaHei"/>
              </a:rPr>
              <a:t>本体检索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9504" y="2066543"/>
            <a:ext cx="112471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0" b="0">
                <a:solidFill>
                  <a:srgbClr val="97B2CF"/>
                </a:solidFill>
                <a:latin typeface="Microsoft YaHei"/>
              </a:rPr>
              <a:t>通过 MCP chat 查询回路知识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572768"/>
            <a:ext cx="1691640" cy="914400"/>
          </a:xfrm>
          <a:prstGeom prst="roundRect">
            <a:avLst/>
          </a:prstGeom>
          <a:solidFill>
            <a:srgbClr val="142A40"/>
          </a:solidFill>
          <a:ln w="12700">
            <a:solidFill>
              <a:srgbClr val="2C47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4" y="1737360"/>
            <a:ext cx="29260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4BF597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1737360"/>
            <a:ext cx="11887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1">
                <a:solidFill>
                  <a:srgbClr val="E6F2FF"/>
                </a:solidFill>
                <a:latin typeface="Microsoft YaHei"/>
              </a:rPr>
              <a:t>策略生成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2066543"/>
            <a:ext cx="112471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0" b="0">
                <a:solidFill>
                  <a:srgbClr val="97B2CF"/>
                </a:solidFill>
                <a:latin typeface="Microsoft YaHei"/>
              </a:rPr>
              <a:t>LLM 输出窗口算法策略 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572768"/>
            <a:ext cx="1691640" cy="914400"/>
          </a:xfrm>
          <a:prstGeom prst="roundRect">
            <a:avLst/>
          </a:prstGeom>
          <a:solidFill>
            <a:srgbClr val="142A40"/>
          </a:solidFill>
          <a:ln w="12700">
            <a:solidFill>
              <a:srgbClr val="2C47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737360"/>
            <a:ext cx="29260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4BF597"/>
                </a:solidFill>
                <a:latin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1" y="1737360"/>
            <a:ext cx="11887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1">
                <a:solidFill>
                  <a:srgbClr val="E6F2FF"/>
                </a:solidFill>
                <a:latin typeface="Microsoft YaHei"/>
              </a:rPr>
              <a:t>算法族运行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1" y="2066543"/>
            <a:ext cx="112471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0" b="0">
                <a:solidFill>
                  <a:srgbClr val="97B2CF"/>
                </a:solidFill>
                <a:latin typeface="Microsoft YaHei"/>
              </a:rPr>
              <a:t>MV 阶跃/斜坡/SP/稳态扰动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1572768"/>
            <a:ext cx="1691640" cy="914400"/>
          </a:xfrm>
          <a:prstGeom prst="roundRect">
            <a:avLst/>
          </a:prstGeom>
          <a:solidFill>
            <a:srgbClr val="142A40"/>
          </a:solidFill>
          <a:ln w="12700">
            <a:solidFill>
              <a:srgbClr val="2C47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1" y="1737360"/>
            <a:ext cx="29260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4BF597"/>
                </a:solidFill>
                <a:latin typeface="Microsoft YaHe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1737360"/>
            <a:ext cx="11887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1">
                <a:solidFill>
                  <a:srgbClr val="E6F2FF"/>
                </a:solidFill>
                <a:latin typeface="Microsoft YaHei"/>
              </a:rPr>
              <a:t>LLM 评审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0496" y="2066543"/>
            <a:ext cx="112471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0" b="0">
                <a:solidFill>
                  <a:srgbClr val="97B2CF"/>
                </a:solidFill>
                <a:latin typeface="Microsoft YaHei"/>
              </a:rPr>
              <a:t>结合证据解释候选窗口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85248" y="1572768"/>
            <a:ext cx="1691640" cy="914400"/>
          </a:xfrm>
          <a:prstGeom prst="roundRect">
            <a:avLst/>
          </a:prstGeom>
          <a:solidFill>
            <a:srgbClr val="142A40"/>
          </a:solidFill>
          <a:ln w="12700">
            <a:solidFill>
              <a:srgbClr val="2C47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94976" y="1737360"/>
            <a:ext cx="29260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4BF597"/>
                </a:solidFill>
                <a:latin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1737360"/>
            <a:ext cx="11887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1">
                <a:solidFill>
                  <a:srgbClr val="E6F2FF"/>
                </a:solidFill>
                <a:latin typeface="Microsoft YaHei"/>
              </a:rPr>
              <a:t>辨识整定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2066543"/>
            <a:ext cx="112471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0" b="0">
                <a:solidFill>
                  <a:srgbClr val="97B2CF"/>
                </a:solidFill>
                <a:latin typeface="Microsoft YaHei"/>
              </a:rPr>
              <a:t>多轮辨识、精修、PID 评估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108960"/>
            <a:ext cx="5303520" cy="2331720"/>
          </a:xfrm>
          <a:prstGeom prst="roundRect">
            <a:avLst/>
          </a:prstGeom>
          <a:solidFill>
            <a:srgbClr val="0F1E2E"/>
          </a:solidFill>
          <a:ln w="12700">
            <a:solidFill>
              <a:srgbClr val="2C47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364992"/>
            <a:ext cx="21945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F2FF"/>
                </a:solidFill>
                <a:latin typeface="Microsoft YaHei"/>
              </a:rPr>
              <a:t>后端关键模块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3794760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" y="3794760"/>
            <a:ext cx="4343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E6F2FF"/>
                </a:solidFill>
                <a:latin typeface="Microsoft YaHei"/>
              </a:rPr>
              <a:t>core/shared/loop_features.py：历史数据画像与监控特征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4123944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" y="4123944"/>
            <a:ext cx="4343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E6F2FF"/>
                </a:solidFill>
                <a:latin typeface="Microsoft YaHei"/>
              </a:rPr>
              <a:t>ontology_mcp_context.py：注册 MCP 工具检索本体上下文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4453128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" y="4453128"/>
            <a:ext cx="4343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E6F2FF"/>
                </a:solidFill>
                <a:latin typeface="Microsoft YaHei"/>
              </a:rPr>
              <a:t>ontology_policy_builder.py：默认策略与回路类型先验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4782312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" y="4782312"/>
            <a:ext cx="4343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E6F2FF"/>
                </a:solidFill>
                <a:latin typeface="Microsoft YaHei"/>
              </a:rPr>
              <a:t>window_policy_advisor.py：LLM 将本体/画像转为策略 JSON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108960"/>
            <a:ext cx="5257800" cy="2331720"/>
          </a:xfrm>
          <a:prstGeom prst="roundRect">
            <a:avLst/>
          </a:prstGeom>
          <a:solidFill>
            <a:srgbClr val="0F1E2E"/>
          </a:solidFill>
          <a:ln w="12700">
            <a:solidFill>
              <a:srgbClr val="2C47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73952" y="3364992"/>
            <a:ext cx="21945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F2FF"/>
                </a:solidFill>
                <a:latin typeface="Microsoft YaHei"/>
              </a:rPr>
              <a:t>前端呈现重点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3952" y="3794760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02552" y="3794760"/>
            <a:ext cx="4343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E6F2FF"/>
                </a:solidFill>
                <a:latin typeface="Microsoft YaHei"/>
              </a:rPr>
              <a:t>窗口候选菜单按 6 步流程展示执行状态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3952" y="4123944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02552" y="4123944"/>
            <a:ext cx="4343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E6F2FF"/>
                </a:solidFill>
                <a:latin typeface="Microsoft YaHei"/>
              </a:rPr>
              <a:t>本体返回原文、策略字段、消费字段、LLM 评审均可追溯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3952" y="4453128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02552" y="4453128"/>
            <a:ext cx="4343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E6F2FF"/>
                </a:solidFill>
                <a:latin typeface="Microsoft YaHei"/>
              </a:rPr>
              <a:t>整定任务页展示准入校验、辨识、评审、整定、评估闭环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3952" y="4782312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02552" y="4782312"/>
            <a:ext cx="4343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E6F2FF"/>
                </a:solidFill>
                <a:latin typeface="Microsoft YaHei"/>
              </a:rPr>
              <a:t>MCP 服务配置页管理本体问答工具接入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863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300" b="1">
                <a:solidFill>
                  <a:srgbClr val="E6F2FF"/>
                </a:solidFill>
                <a:latin typeface="Microsoft YaHei"/>
              </a:rPr>
              <a:t>MCP 服务配置：把本体工具注册进系统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97840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7B2CF"/>
                </a:solidFill>
                <a:latin typeface="Microsoft YaHei"/>
              </a:rPr>
              <a:t>系统设置中配置服务名、Transport、服务地址和通用 MCP JSON；后端通过 /api/mcp-servers 读取。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9144"/>
          </a:xfrm>
          <a:prstGeom prst="rect">
            <a:avLst/>
          </a:prstGeom>
          <a:solidFill>
            <a:srgbClr val="2C47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pt_mcp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20" y="1417320"/>
            <a:ext cx="6834438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417320"/>
            <a:ext cx="3886200" cy="4251960"/>
          </a:xfrm>
          <a:prstGeom prst="roundRect">
            <a:avLst/>
          </a:prstGeom>
          <a:solidFill>
            <a:srgbClr val="0F1E2E"/>
          </a:solidFill>
          <a:ln w="12700">
            <a:solidFill>
              <a:srgbClr val="2C47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737360"/>
            <a:ext cx="2926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F2FF"/>
                </a:solidFill>
                <a:latin typeface="Microsoft YaHei"/>
              </a:rPr>
              <a:t>它在链路中承担什么？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240280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240280"/>
            <a:ext cx="3108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0">
                <a:solidFill>
                  <a:srgbClr val="E6F2FF"/>
                </a:solidFill>
                <a:latin typeface="Microsoft YaHei"/>
              </a:rPr>
              <a:t>不是把本体写死在项目里，而是通过 MCP 工具查询。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679192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679192"/>
            <a:ext cx="3108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0">
                <a:solidFill>
                  <a:srgbClr val="E6F2FF"/>
                </a:solidFill>
                <a:latin typeface="Microsoft YaHei"/>
              </a:rPr>
              <a:t>当前后端优先寻找启用服务中的 chat 工具。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118104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118104"/>
            <a:ext cx="3108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0">
                <a:solidFill>
                  <a:srgbClr val="E6F2FF"/>
                </a:solidFill>
                <a:latin typeface="Microsoft YaHei"/>
              </a:rPr>
              <a:t>查询问题由回路位号和回路类型动态拼出。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557016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557016"/>
            <a:ext cx="3108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0">
                <a:solidFill>
                  <a:srgbClr val="E6F2FF"/>
                </a:solidFill>
                <a:latin typeface="Microsoft YaHei"/>
              </a:rPr>
              <a:t>返回内容会作为 ontology_mcp_content_raw 注入窗口策略和评审。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7" y="5193792"/>
            <a:ext cx="3337560" cy="292608"/>
          </a:xfrm>
          <a:prstGeom prst="roundRect">
            <a:avLst/>
          </a:prstGeom>
          <a:solidFill>
            <a:srgbClr val="0D2D4E"/>
          </a:solidFill>
          <a:ln>
            <a:solidFill>
              <a:srgbClr val="3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91855" y="5257800"/>
            <a:ext cx="3118104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30D6DE"/>
                </a:solidFill>
                <a:latin typeface="Microsoft YaHei"/>
              </a:rPr>
              <a:t>关键代码：core/mcp_config.py + api/mcp_config_routes.py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863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300" b="1">
                <a:solidFill>
                  <a:srgbClr val="E6F2FF"/>
                </a:solidFill>
                <a:latin typeface="Microsoft YaHei"/>
              </a:rPr>
              <a:t>本体查询问题：围绕窗口选择所需的工艺语义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97840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7B2CF"/>
                </a:solidFill>
                <a:latin typeface="Microsoft YaHei"/>
              </a:rPr>
              <a:t>后端根据回路名与类型组织自然语言问题，要求本体返回变量角色、动态先验、扰动和窗口建议。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9144"/>
          </a:xfrm>
          <a:prstGeom prst="rect">
            <a:avLst/>
          </a:prstGeom>
          <a:solidFill>
            <a:srgbClr val="2C47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4937760" cy="4480560"/>
          </a:xfrm>
          <a:prstGeom prst="roundRect">
            <a:avLst/>
          </a:prstGeom>
          <a:solidFill>
            <a:srgbClr val="0F1E2E"/>
          </a:solidFill>
          <a:ln w="12700">
            <a:solidFill>
              <a:srgbClr val="2C47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371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F2FF"/>
                </a:solidFill>
                <a:latin typeface="Microsoft YaHei"/>
              </a:rPr>
              <a:t>查询重点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40280"/>
            <a:ext cx="416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6F2FF"/>
                </a:solidFill>
                <a:latin typeface="Microsoft YaHei"/>
              </a:rPr>
              <a:t>PV/CV、MV、SP、DV 的名称与物理含义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79192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79192"/>
            <a:ext cx="416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6F2FF"/>
                </a:solidFill>
                <a:latin typeface="Microsoft YaHei"/>
              </a:rPr>
              <a:t>对象阶次、正/反作用、过程增益方向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18104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118104"/>
            <a:ext cx="416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6F2FF"/>
                </a:solidFill>
                <a:latin typeface="Microsoft YaHei"/>
              </a:rPr>
              <a:t>时间尺度、滤波时间、死区、典型动态先验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57016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557016"/>
            <a:ext cx="416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6F2FF"/>
                </a:solidFill>
                <a:latin typeface="Microsoft YaHei"/>
              </a:rPr>
              <a:t>常见工况/扰动场景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95928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995928"/>
            <a:ext cx="416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6F2FF"/>
                </a:solidFill>
                <a:latin typeface="Microsoft YaHei"/>
              </a:rPr>
              <a:t>窗口辨识时应优先选择或避开的窗口特征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417320"/>
            <a:ext cx="5440680" cy="4480560"/>
          </a:xfrm>
          <a:prstGeom prst="roundRect">
            <a:avLst/>
          </a:prstGeom>
          <a:solidFill>
            <a:srgbClr val="0F1E2E"/>
          </a:solidFill>
          <a:ln w="12700">
            <a:solidFill>
              <a:srgbClr val="2C47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700784"/>
            <a:ext cx="20116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F2FF"/>
                </a:solidFill>
                <a:latin typeface="Microsoft YaHei"/>
              </a:rPr>
              <a:t>为什么这一步重要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240280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240280"/>
            <a:ext cx="44348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6F2FF"/>
                </a:solidFill>
                <a:latin typeface="Microsoft YaHei"/>
              </a:rPr>
              <a:t>仅靠 R² 或 NRMSE 容易把噪声/扰动片段当成好窗口。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679192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679192"/>
            <a:ext cx="44348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6F2FF"/>
                </a:solidFill>
                <a:latin typeface="Microsoft YaHei"/>
              </a:rPr>
              <a:t>本体能告诉系统：这个回路的合理激励、时间尺度和增益方向。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118104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118104"/>
            <a:ext cx="44348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6F2FF"/>
                </a:solidFill>
                <a:latin typeface="Microsoft YaHei"/>
              </a:rPr>
              <a:t>LLM 将本体事实转成可执行策略，再让算法族按策略筛选。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557016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557016"/>
            <a:ext cx="44348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6F2FF"/>
                </a:solidFill>
                <a:latin typeface="Microsoft YaHei"/>
              </a:rPr>
              <a:t>最终 LLM 评审可以解释：为什么某窗口更合理，为什么某窗口有风险。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863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300" b="1">
                <a:solidFill>
                  <a:srgbClr val="E6F2FF"/>
                </a:solidFill>
                <a:latin typeface="Microsoft YaHei"/>
              </a:rPr>
              <a:t>窗口候选页面：按流程显式展示智能体执行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97840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7B2CF"/>
                </a:solidFill>
                <a:latin typeface="Microsoft YaHei"/>
              </a:rPr>
              <a:t>点击开始后，不直接吐窗口，而是按“画像 → 本体 → 策略 → 算法 → LLM → 准入”串行展示。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9144"/>
          </a:xfrm>
          <a:prstGeom prst="rect">
            <a:avLst/>
          </a:prstGeom>
          <a:solidFill>
            <a:srgbClr val="2C47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pt_window_candidate_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3796" y="1325880"/>
            <a:ext cx="7128393" cy="4434840"/>
          </a:xfrm>
          <a:prstGeom prst="rect">
            <a:avLst/>
          </a:prstGeom>
        </p:spPr>
      </p:pic>
      <p:pic>
        <p:nvPicPr>
          <p:cNvPr id="7" name="Picture 6" descr="ppt_window_candidate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463" y="1325880"/>
            <a:ext cx="7128393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5806440"/>
            <a:ext cx="5943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7B2CF"/>
                </a:solidFill>
                <a:latin typeface="Microsoft YaHei"/>
              </a:rPr>
              <a:t>左：启动入口；右：流程运行中的步骤卡片和回路画像。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863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300" b="1">
                <a:solidFill>
                  <a:srgbClr val="E6F2FF"/>
                </a:solidFill>
                <a:latin typeface="Microsoft YaHei"/>
              </a:rPr>
              <a:t>策略生成：LLM 不直接替代算法，而是给算法族下约束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97840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7B2CF"/>
                </a:solidFill>
                <a:latin typeface="Microsoft YaHei"/>
              </a:rPr>
              <a:t>策略字段被分成“实际消费”和“展示/审计”，减少黑箱感。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9144"/>
          </a:xfrm>
          <a:prstGeom prst="rect">
            <a:avLst/>
          </a:prstGeom>
          <a:solidFill>
            <a:srgbClr val="2C47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89888"/>
            <a:ext cx="3703320" cy="4526280"/>
          </a:xfrm>
          <a:prstGeom prst="roundRect">
            <a:avLst/>
          </a:prstGeom>
          <a:solidFill>
            <a:srgbClr val="0F1E2E"/>
          </a:solidFill>
          <a:ln w="12700">
            <a:solidFill>
              <a:srgbClr val="2C47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00784"/>
            <a:ext cx="23774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F2FF"/>
                </a:solidFill>
                <a:latin typeface="Microsoft YaHei"/>
              </a:rPr>
              <a:t>可被算法消费的字段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6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48840"/>
            <a:ext cx="2926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60" b="0">
                <a:solidFill>
                  <a:srgbClr val="E6F2FF"/>
                </a:solidFill>
                <a:latin typeface="Microsoft YaHei"/>
              </a:rPr>
              <a:t>preferred/deprioritized/disabled_algorithm_families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78024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6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478024"/>
            <a:ext cx="2926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60" b="0">
                <a:solidFill>
                  <a:srgbClr val="E6F2FF"/>
                </a:solidFill>
                <a:latin typeface="Microsoft YaHei"/>
              </a:rPr>
              <a:t>min_mv_excitation / min_sp_excitation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07208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6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807208"/>
            <a:ext cx="2926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60" b="0">
                <a:solidFill>
                  <a:srgbClr val="E6F2FF"/>
                </a:solidFill>
                <a:latin typeface="Microsoft YaHei"/>
              </a:rPr>
              <a:t>max_mv_saturation_ratio / max_pv_noise_ratio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36392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6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136392"/>
            <a:ext cx="2926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60" b="0">
                <a:solidFill>
                  <a:srgbClr val="E6F2FF"/>
                </a:solidFill>
                <a:latin typeface="Microsoft YaHei"/>
              </a:rPr>
              <a:t>min_window_duration_s / min_window_points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65576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6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465576"/>
            <a:ext cx="2926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60" b="0">
                <a:solidFill>
                  <a:srgbClr val="E6F2FF"/>
                </a:solidFill>
                <a:latin typeface="Microsoft YaHei"/>
              </a:rPr>
              <a:t>pre_window_s / post_window_s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6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794760"/>
            <a:ext cx="2926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60" b="0">
                <a:solidFill>
                  <a:srgbClr val="E6F2FF"/>
                </a:solidFill>
                <a:latin typeface="Microsoft YaHei"/>
              </a:rPr>
              <a:t>steady_scan_window_s / steady_scan_step_s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23944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6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123944"/>
            <a:ext cx="2926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60" b="0">
                <a:solidFill>
                  <a:srgbClr val="E6F2FF"/>
                </a:solidFill>
                <a:latin typeface="Microsoft YaHei"/>
              </a:rPr>
              <a:t>max_candidates_per_family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1389888"/>
            <a:ext cx="3291840" cy="4526280"/>
          </a:xfrm>
          <a:prstGeom prst="roundRect">
            <a:avLst/>
          </a:prstGeom>
          <a:solidFill>
            <a:srgbClr val="0F1E2E"/>
          </a:solidFill>
          <a:ln w="12700">
            <a:solidFill>
              <a:srgbClr val="2C47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1700784"/>
            <a:ext cx="21031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F2FF"/>
                </a:solidFill>
                <a:latin typeface="Microsoft YaHei"/>
              </a:rPr>
              <a:t>主要用于解释/审计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2148840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148840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0">
                <a:solidFill>
                  <a:srgbClr val="E6F2FF"/>
                </a:solidFill>
                <a:latin typeface="Microsoft YaHei"/>
              </a:rPr>
              <a:t>expected_gain_sign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2542032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2542032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0">
                <a:solidFill>
                  <a:srgbClr val="E6F2FF"/>
                </a:solidFill>
                <a:latin typeface="Microsoft YaHei"/>
              </a:rPr>
              <a:t>expected_time_constant_range_s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2935224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2935224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0">
                <a:solidFill>
                  <a:srgbClr val="E6F2FF"/>
                </a:solidFill>
                <a:latin typeface="Microsoft YaHei"/>
              </a:rPr>
              <a:t>expected_dead_time_range_s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3328416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328416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0">
                <a:solidFill>
                  <a:srgbClr val="E6F2FF"/>
                </a:solidFill>
                <a:latin typeface="Microsoft YaHei"/>
              </a:rPr>
              <a:t>ontology_evidence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3721608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3721608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0">
                <a:solidFill>
                  <a:srgbClr val="E6F2FF"/>
                </a:solidFill>
                <a:latin typeface="Microsoft YaHei"/>
              </a:rPr>
              <a:t>rationale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4114800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114800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0">
                <a:solidFill>
                  <a:srgbClr val="E6F2FF"/>
                </a:solidFill>
                <a:latin typeface="Microsoft YaHei"/>
              </a:rPr>
              <a:t>llm_policy_raw_text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01000" y="1389888"/>
            <a:ext cx="3337560" cy="4526280"/>
          </a:xfrm>
          <a:prstGeom prst="roundRect">
            <a:avLst/>
          </a:prstGeom>
          <a:solidFill>
            <a:srgbClr val="0F1E2E"/>
          </a:solidFill>
          <a:ln w="12700">
            <a:solidFill>
              <a:srgbClr val="2C47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1700784"/>
            <a:ext cx="20116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F2FF"/>
                </a:solidFill>
                <a:latin typeface="Microsoft YaHei"/>
              </a:rPr>
              <a:t>当前实现边界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2148840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2148840"/>
            <a:ext cx="2423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0">
                <a:solidFill>
                  <a:srgbClr val="E6F2FF"/>
                </a:solidFill>
                <a:latin typeface="Microsoft YaHei"/>
              </a:rPr>
              <a:t>算法族仍是确定性 provider。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2587752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2587752"/>
            <a:ext cx="2423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0">
                <a:solidFill>
                  <a:srgbClr val="E6F2FF"/>
                </a:solidFill>
                <a:latin typeface="Microsoft YaHei"/>
              </a:rPr>
              <a:t>LLM 策略影响算法族优先级和筛选门槛。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3026664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3026664"/>
            <a:ext cx="2423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0">
                <a:solidFill>
                  <a:srgbClr val="E6F2FF"/>
                </a:solidFill>
                <a:latin typeface="Microsoft YaHei"/>
              </a:rPr>
              <a:t>LLM 最终评审解释候选窗口，但不应绕过准入规则。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3465576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3465576"/>
            <a:ext cx="2423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0">
                <a:solidFill>
                  <a:srgbClr val="E6F2FF"/>
                </a:solidFill>
                <a:latin typeface="Microsoft YaHei"/>
              </a:rPr>
              <a:t>没有合格窗口时，应阻断正式辨识或降为诊断辨识。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863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300" b="1">
                <a:solidFill>
                  <a:srgbClr val="E6F2FF"/>
                </a:solidFill>
                <a:latin typeface="Microsoft YaHei"/>
              </a:rPr>
              <a:t>LLM 评审：把本体证据和算法窗口合在一起解释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97840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7B2CF"/>
                </a:solidFill>
                <a:latin typeface="Microsoft YaHei"/>
              </a:rPr>
              <a:t>评审不是只看分数，而是对照本体事实、LoopFeatures 和候选窗口逐项判断。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9144"/>
          </a:xfrm>
          <a:prstGeom prst="rect">
            <a:avLst/>
          </a:prstGeom>
          <a:solidFill>
            <a:srgbClr val="2C47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pt_window_candidate_l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14" y="1353312"/>
            <a:ext cx="7275370" cy="4526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18120" y="1353312"/>
            <a:ext cx="3611880" cy="4526280"/>
          </a:xfrm>
          <a:prstGeom prst="roundRect">
            <a:avLst/>
          </a:prstGeom>
          <a:solidFill>
            <a:srgbClr val="0F1E2E"/>
          </a:solidFill>
          <a:ln w="12700">
            <a:solidFill>
              <a:srgbClr val="2C47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664208"/>
            <a:ext cx="1554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F2FF"/>
                </a:solidFill>
                <a:latin typeface="Microsoft YaHei"/>
              </a:rPr>
              <a:t>评审输出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21408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121408"/>
            <a:ext cx="2697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0">
                <a:solidFill>
                  <a:srgbClr val="E6F2FF"/>
                </a:solidFill>
                <a:latin typeface="Microsoft YaHei"/>
              </a:rPr>
              <a:t>LLM 选中窗口与确定性窗口是否一致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532888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532888"/>
            <a:ext cx="2697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0">
                <a:solidFill>
                  <a:srgbClr val="E6F2FF"/>
                </a:solidFill>
                <a:latin typeface="Microsoft YaHei"/>
              </a:rPr>
              <a:t>选择原因：激励强度、相关性、饱和、点数、工况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944368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944368"/>
            <a:ext cx="2697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0">
                <a:solidFill>
                  <a:srgbClr val="E6F2FF"/>
                </a:solidFill>
                <a:latin typeface="Microsoft YaHei"/>
              </a:rPr>
              <a:t>引用的本体事实和来源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355848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355848"/>
            <a:ext cx="2697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0">
                <a:solidFill>
                  <a:srgbClr val="E6F2FF"/>
                </a:solidFill>
                <a:latin typeface="Microsoft YaHei"/>
              </a:rPr>
              <a:t>候选窗口逐项评审：优先、可接受、风险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767328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767328"/>
            <a:ext cx="2697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40" b="0">
                <a:solidFill>
                  <a:srgbClr val="E6F2FF"/>
                </a:solidFill>
                <a:latin typeface="Microsoft YaHei"/>
              </a:rPr>
              <a:t>是否允许进入正式辨识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863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300" b="1">
                <a:solidFill>
                  <a:srgbClr val="E6F2FF"/>
                </a:solidFill>
                <a:latin typeface="Microsoft YaHei"/>
              </a:rPr>
              <a:t>闭环整定：本体驱动窗口只是第一关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97840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7B2CF"/>
                </a:solidFill>
                <a:latin typeface="Microsoft YaHei"/>
              </a:rPr>
              <a:t>窗口选好后，系统仍会进入多轮辨识、模型评审、精修建议、PID 整定和性能评估。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9144"/>
          </a:xfrm>
          <a:prstGeom prst="rect">
            <a:avLst/>
          </a:prstGeom>
          <a:solidFill>
            <a:srgbClr val="2C47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44200" cy="1143000"/>
          </a:xfrm>
          <a:prstGeom prst="roundRect">
            <a:avLst/>
          </a:prstGeom>
          <a:solidFill>
            <a:srgbClr val="0F1E2E"/>
          </a:solidFill>
          <a:ln w="12700">
            <a:solidFill>
              <a:srgbClr val="2C47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234440" cy="292608"/>
          </a:xfrm>
          <a:prstGeom prst="roundRect">
            <a:avLst/>
          </a:prstGeom>
          <a:solidFill>
            <a:srgbClr val="0D2D4E"/>
          </a:solidFill>
          <a:ln>
            <a:solidFill>
              <a:srgbClr val="3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892807"/>
            <a:ext cx="1014984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30D6DE"/>
                </a:solidFill>
                <a:latin typeface="Microsoft YaHei"/>
              </a:rPr>
              <a:t>候选窗口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31136" y="1847088"/>
            <a:ext cx="2743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97B2CF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1828800"/>
            <a:ext cx="1234440" cy="292608"/>
          </a:xfrm>
          <a:prstGeom prst="roundRect">
            <a:avLst/>
          </a:prstGeom>
          <a:solidFill>
            <a:srgbClr val="0D2D4E"/>
          </a:solidFill>
          <a:ln>
            <a:solidFill>
              <a:srgbClr val="2B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5768" y="1892807"/>
            <a:ext cx="1014984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2B85FF"/>
                </a:solidFill>
                <a:latin typeface="Microsoft YaHei"/>
              </a:rPr>
              <a:t>模型辨识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2776" y="1847088"/>
            <a:ext cx="2743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97B2CF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828800"/>
            <a:ext cx="1234440" cy="292608"/>
          </a:xfrm>
          <a:prstGeom prst="roundRect">
            <a:avLst/>
          </a:prstGeom>
          <a:solidFill>
            <a:srgbClr val="0D2D4E"/>
          </a:solidFill>
          <a:ln>
            <a:solidFill>
              <a:srgbClr val="4BF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892807"/>
            <a:ext cx="1014984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4BF597"/>
                </a:solidFill>
                <a:latin typeface="Microsoft YaHei"/>
              </a:rPr>
              <a:t>LLM评审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14416" y="1847088"/>
            <a:ext cx="2743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97B2CF"/>
                </a:solidFill>
                <a:latin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828800"/>
            <a:ext cx="1234440" cy="292608"/>
          </a:xfrm>
          <a:prstGeom prst="roundRect">
            <a:avLst/>
          </a:prstGeom>
          <a:solidFill>
            <a:srgbClr val="0D2D4E"/>
          </a:solidFill>
          <a:ln>
            <a:solidFill>
              <a:srgbClr val="F6C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8" y="1892807"/>
            <a:ext cx="1014984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6C44F"/>
                </a:solidFill>
                <a:latin typeface="Microsoft YaHei"/>
              </a:rPr>
              <a:t>精修建议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6056" y="1847088"/>
            <a:ext cx="2743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97B2CF"/>
                </a:solidFill>
                <a:latin typeface="Microsoft Ya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1828800"/>
            <a:ext cx="1234440" cy="292608"/>
          </a:xfrm>
          <a:prstGeom prst="roundRect">
            <a:avLst/>
          </a:prstGeom>
          <a:solidFill>
            <a:srgbClr val="0D2D4E"/>
          </a:solidFill>
          <a:ln>
            <a:solidFill>
              <a:srgbClr val="2B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1892807"/>
            <a:ext cx="1014984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2B85FF"/>
                </a:solidFill>
                <a:latin typeface="Microsoft YaHei"/>
              </a:rPr>
              <a:t>PID整定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7696" y="1847088"/>
            <a:ext cx="2743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97B2CF"/>
                </a:solidFill>
                <a:latin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2600" y="1828800"/>
            <a:ext cx="1234440" cy="292608"/>
          </a:xfrm>
          <a:prstGeom prst="roundRect">
            <a:avLst/>
          </a:prstGeom>
          <a:solidFill>
            <a:srgbClr val="0D2D4E"/>
          </a:solidFill>
          <a:ln>
            <a:solidFill>
              <a:srgbClr val="4BF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82328" y="1892807"/>
            <a:ext cx="1014984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4BF597"/>
                </a:solidFill>
                <a:latin typeface="Microsoft YaHei"/>
              </a:rPr>
              <a:t>性能评估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2971800"/>
            <a:ext cx="5074920" cy="2377440"/>
          </a:xfrm>
          <a:prstGeom prst="roundRect">
            <a:avLst/>
          </a:prstGeom>
          <a:solidFill>
            <a:srgbClr val="0F1E2E"/>
          </a:solidFill>
          <a:ln w="12700">
            <a:solidFill>
              <a:srgbClr val="2C47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255264"/>
            <a:ext cx="19202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F2FF"/>
                </a:solidFill>
                <a:latin typeface="Microsoft YaHei"/>
              </a:rPr>
              <a:t>后端闭环机制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703320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3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703320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30" b="0">
                <a:solidFill>
                  <a:srgbClr val="E6F2FF"/>
                </a:solidFill>
                <a:latin typeface="Microsoft YaHei"/>
              </a:rPr>
              <a:t>runner.py 支持多轮辨识 → LLM评审 → 精修建议 → 再辨识。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114800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3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114800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30" b="0">
                <a:solidFill>
                  <a:srgbClr val="E6F2FF"/>
                </a:solidFill>
                <a:latin typeface="Microsoft YaHei"/>
              </a:rPr>
              <a:t>identification_refinement_advisor.py 决定换窗口、缩模型池或给 L 初值。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526280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3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526280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30" b="0">
                <a:solidFill>
                  <a:srgbClr val="E6F2FF"/>
                </a:solidFill>
                <a:latin typeface="Microsoft YaHei"/>
              </a:rPr>
              <a:t>identification_advisor.py 只输出 accept/downgrade，不直接 reject 中止。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0" y="2971800"/>
            <a:ext cx="5394960" cy="2377440"/>
          </a:xfrm>
          <a:prstGeom prst="roundRect">
            <a:avLst/>
          </a:prstGeom>
          <a:solidFill>
            <a:srgbClr val="0F1E2E"/>
          </a:solidFill>
          <a:ln w="12700">
            <a:solidFill>
              <a:srgbClr val="2C47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255264"/>
            <a:ext cx="19202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F2FF"/>
                </a:solidFill>
                <a:latin typeface="Microsoft YaHei"/>
              </a:rPr>
              <a:t>产品化建议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703320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3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703320"/>
            <a:ext cx="4343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30" b="0">
                <a:solidFill>
                  <a:srgbClr val="E6F2FF"/>
                </a:solidFill>
                <a:latin typeface="Microsoft YaHei"/>
              </a:rPr>
              <a:t>保留“诊断辨识”和“正式辨识”两种准入结论。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114800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3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114800"/>
            <a:ext cx="4343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30" b="0">
                <a:solidFill>
                  <a:srgbClr val="E6F2FF"/>
                </a:solidFill>
                <a:latin typeface="Microsoft YaHei"/>
              </a:rPr>
              <a:t>把本体返回原文、策略 JSON、消费字段、LLM 原文全部沉淀到事件。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526280"/>
            <a:ext cx="16459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30" b="1">
                <a:solidFill>
                  <a:srgbClr val="30D6DE"/>
                </a:solidFill>
                <a:latin typeface="Microsoft YaHe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526280"/>
            <a:ext cx="4343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30" b="0">
                <a:solidFill>
                  <a:srgbClr val="E6F2FF"/>
                </a:solidFill>
                <a:latin typeface="Microsoft YaHei"/>
              </a:rPr>
              <a:t>对没有合格窗口的回路，优先输出数据采集/试验建议，而不是强行整定。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